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Grant/Fond (A)</c:v>
                </c:pt>
              </c:strCache>
            </c:strRef>
          </c:tx>
          <c:spPr>
            <a:solidFill>
              <a:srgbClr val="33E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Homiyli CTF (B)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40</c:v>
                </c:pt>
                <c:pt idx="2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Talent (C)</c:v>
                </c:pt>
              </c:strCache>
            </c:strRef>
          </c:tx>
          <c:spPr>
            <a:solidFill>
              <a:srgbClr val="F5B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Yil 1</c:v>
                  </c:pt>
                  <c:pt idx="1">
                    <c:v>Yil 2</c:v>
                  </c:pt>
                  <c:pt idx="2">
                    <c:v>Yil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15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74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9AA6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C27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" name="Shape 1"/>
          <p:cNvSpPr/>
          <p:nvPr/>
        </p:nvSpPr>
        <p:spPr>
          <a:xfrm>
            <a:off x="897940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4" name="Shape 2"/>
          <p:cNvSpPr/>
          <p:nvPr/>
        </p:nvSpPr>
        <p:spPr>
          <a:xfrm>
            <a:off x="936345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5" name="Shape 3"/>
          <p:cNvSpPr/>
          <p:nvPr/>
        </p:nvSpPr>
        <p:spPr>
          <a:xfrm>
            <a:off x="9747504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6" name="Shape 4"/>
          <p:cNvSpPr/>
          <p:nvPr/>
        </p:nvSpPr>
        <p:spPr>
          <a:xfrm>
            <a:off x="10131552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8" name="Shape 6"/>
          <p:cNvSpPr/>
          <p:nvPr/>
        </p:nvSpPr>
        <p:spPr>
          <a:xfrm>
            <a:off x="10899648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9" name="Shape 7"/>
          <p:cNvSpPr/>
          <p:nvPr/>
        </p:nvSpPr>
        <p:spPr>
          <a:xfrm>
            <a:off x="11283696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1" name="Shape 9"/>
          <p:cNvSpPr/>
          <p:nvPr/>
        </p:nvSpPr>
        <p:spPr>
          <a:xfrm>
            <a:off x="897940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6345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9747504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31552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99648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83696" y="841248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9" name="Shape 17"/>
          <p:cNvSpPr/>
          <p:nvPr/>
        </p:nvSpPr>
        <p:spPr>
          <a:xfrm>
            <a:off x="897940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6345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1" name="Shape 19"/>
          <p:cNvSpPr/>
          <p:nvPr/>
        </p:nvSpPr>
        <p:spPr>
          <a:xfrm>
            <a:off x="9747504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31552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0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99648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83696" y="1225296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7" name="Shape 25"/>
          <p:cNvSpPr/>
          <p:nvPr/>
        </p:nvSpPr>
        <p:spPr>
          <a:xfrm>
            <a:off x="897940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8" name="Shape 26"/>
          <p:cNvSpPr/>
          <p:nvPr/>
        </p:nvSpPr>
        <p:spPr>
          <a:xfrm>
            <a:off x="936345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9" name="Shape 27"/>
          <p:cNvSpPr/>
          <p:nvPr/>
        </p:nvSpPr>
        <p:spPr>
          <a:xfrm>
            <a:off x="9747504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31552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15600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99648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83696" y="1609344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536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5" name="Shape 33"/>
          <p:cNvSpPr/>
          <p:nvPr/>
        </p:nvSpPr>
        <p:spPr>
          <a:xfrm>
            <a:off x="897940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6" name="Shape 34"/>
          <p:cNvSpPr/>
          <p:nvPr/>
        </p:nvSpPr>
        <p:spPr>
          <a:xfrm>
            <a:off x="936345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7" name="Shape 35"/>
          <p:cNvSpPr/>
          <p:nvPr/>
        </p:nvSpPr>
        <p:spPr>
          <a:xfrm>
            <a:off x="9747504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31552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15600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99648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41" name="Shape 39"/>
          <p:cNvSpPr/>
          <p:nvPr/>
        </p:nvSpPr>
        <p:spPr>
          <a:xfrm>
            <a:off x="11283696" y="1993392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502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</a:t>
            </a:r>
            <a:pPr algn="l" indent="0" marL="0">
              <a:buNone/>
            </a:pPr>
            <a:r>
              <a:rPr lang="en-US" sz="7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</a:t>
            </a:r>
            <a:endParaRPr lang="en-US" sz="7200" dirty="0"/>
          </a:p>
        </p:txBody>
      </p:sp>
      <p:sp>
        <p:nvSpPr>
          <p:cNvPr id="44" name="Text 42"/>
          <p:cNvSpPr/>
          <p:nvPr/>
        </p:nvSpPr>
        <p:spPr>
          <a:xfrm>
            <a:off x="50292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O'zbekistonning kiberxavfsizlik iste'dodlari zavodi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0292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orqali o'rgatadigan, uch tilli va bepul ta'lim + CTF platformasi — o'quvchidan mutaxassisgacha bo'lgan yagona yo'l.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2920" y="5029200"/>
            <a:ext cx="1505102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5029200"/>
            <a:ext cx="15051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 / Ru / En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90902" y="5029200"/>
            <a:ext cx="1900123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0902" y="5029200"/>
            <a:ext cx="19001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 uslubi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73906" y="5029200"/>
            <a:ext cx="2591410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3906" y="5029200"/>
            <a:ext cx="259141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048195" y="5029200"/>
            <a:ext cx="1406347" cy="457200"/>
          </a:xfrm>
          <a:prstGeom prst="roundRect">
            <a:avLst>
              <a:gd name="adj" fmla="val 50000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8195" y="5029200"/>
            <a:ext cx="14063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 CTF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</a:t>
            </a:r>
            <a:pPr algn="l"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2026   •   cdctf.uz   •   Asoschi: Hikmatbek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MUAMMO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Iste'dod bor — yo'l yo'q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Kiberxavfsizlikka qiziqish yuqori, lekin mahalliy tildagi, amaliyotga asoslangan yagona o'quv yo'li mavjud 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 to'sig'i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Sifatli materiallar asosan ingliz tilida. Ko'pchilik boshlanishidayoq to'xtaydi.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26517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2432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Nazariya ko'p, amaliyot yo'q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20840" y="32461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va PDF o'rgatadi, lekin qo'l bilan ishlash, laboratoriya va real topshiriq bermaydi.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Yo'nalish yo'q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"Nimadan boshlash kerak?" — tuzilgan yo'l xaritasi va bosqichma-bosqich dastur yo'q.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2976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4617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1620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590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 bilan ko'prik yo'q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52120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O'rgangan ko'nikmani isbotlash va ish beruvchiga ko'rsatishning aniq yo'li yo'q.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YECHIM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 — o'rganib, qilib, isbotlaydigan platforma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Bitta platformada: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4348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 tilli (uz / ru / en) — mahalliy o'quvchi uchun to'siqsiz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Amaliyot birinchi — brauzerda ishga tushadigan haqiqiy laboratoriyalar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yo'l xaritasi — bosqichma-bosqich modul va yo'llar (paths)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va musobaqalar — bilimni real bellashuvda sinash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ish ko'prigi — ko'nikmani isbotlab, ishga ulanish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7830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08192" y="19568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9" name="Text 7"/>
          <p:cNvSpPr/>
          <p:nvPr/>
        </p:nvSpPr>
        <p:spPr>
          <a:xfrm>
            <a:off x="6108192" y="19568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185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&amp; yo'llar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24963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26974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8192" y="28712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08192" y="2871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30998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Laboratoriya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34107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36118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3785616"/>
            <a:ext cx="402336" cy="402336"/>
          </a:xfrm>
          <a:prstGeom prst="ellipse">
            <a:avLst/>
          </a:prstGeom>
          <a:solidFill>
            <a:srgbClr val="F5B94A"/>
          </a:solidFill>
          <a:ln/>
        </p:spPr>
      </p:sp>
      <p:sp>
        <p:nvSpPr>
          <p:cNvPr id="21" name="Text 19"/>
          <p:cNvSpPr/>
          <p:nvPr/>
        </p:nvSpPr>
        <p:spPr>
          <a:xfrm>
            <a:off x="6108192" y="3785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20840" y="3703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40142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&amp; musobaqa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3251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45262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08192" y="4700016"/>
            <a:ext cx="402336" cy="402336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7" name="Text 25"/>
          <p:cNvSpPr/>
          <p:nvPr/>
        </p:nvSpPr>
        <p:spPr>
          <a:xfrm>
            <a:off x="6108192" y="4700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2084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Isbotla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49286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523951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5440680"/>
            <a:ext cx="5852160" cy="749808"/>
          </a:xfrm>
          <a:prstGeom prst="roundRect">
            <a:avLst>
              <a:gd name="adj" fmla="val 1463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5614416"/>
            <a:ext cx="402336" cy="402336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108192" y="5614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0840" y="5532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Ishga ulan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0840" y="5843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ko'prigi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MAHSULOT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qurdik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turgan, uch tilli, to'liq platforma — cdctf.uz da jonli.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56032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O'rganish markazi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Paths, Modullar, Walkthroughs — TryHackMe uslubidagi tabli hub.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88536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81144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18304" y="256032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Haqiqiy laboratoriyalar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Izolyatsiyalangan mashinalar, "Ishga tushur" tugmasi bilan brauzerda.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21488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56032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9900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 topshiriqlar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3558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Kategoriyali, ballik, jonli tekshiriladigan flaglar.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4572000"/>
            <a:ext cx="182880" cy="182880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Musobaqalar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5528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yakka rejimlar, jonli reyting, homiyli tadbirlar.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88536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81144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4572000"/>
            <a:ext cx="182880" cy="18288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Sertifikat &amp; tekshiruv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81144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Standartlashtirilgan sertifikat + ommaviy tekshirish portali.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416052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4434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4572000"/>
            <a:ext cx="182880" cy="182880"/>
          </a:xfrm>
          <a:prstGeom prst="ellipse">
            <a:avLst/>
          </a:prstGeom>
          <a:solidFill>
            <a:srgbClr val="F5B94A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5001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Geymifikatsiya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66760" y="53675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daraja, streak, liga va nishonlar — motivatsiya uchun.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hozir va nega bu yerda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hukumat, banklar va IT sektorining o'sishi kiberxavfsizlik mutaxassislariga talabni portlatmoqda — kadr esa yetishmaydi.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3.5M+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bo'yicha to'ldirilmagan kiberxavfsizlik vakansiyalari*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62856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internet foydalanuvchilari — o'quvchilar bazasi*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22860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6060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Uz/Ru/En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48472" y="361188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platforma — mahalliy + mintaqaviy (Markaziy Osiyo) bozor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7742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(TAM)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kiberxavfsizlik ta'limi &amp; CTF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Erishiladigan (SAM)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O'zbekistondagi talaba, IT-mutaxassis, korporativ o'quv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48646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Boshlang'ich (SOM)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 klublari, IT Park, Telegram jamoasi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144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Taxminiy, sohaviy hisobotlar asosidagi baholash.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O'quvchi uchun bepul — daromad uch bosqichda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075688"/>
            <a:ext cx="640080" cy="640080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&amp; grantlar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ta'limni ta'minlash uchun grant, homiylik va davlat/xalqaro fondlar.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33E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81144" y="2075688"/>
            <a:ext cx="640080" cy="64008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85816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Homiyli CTF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1144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Kompaniyalar brendlangan musobaqa va tadbirlarga homiylik qiladi — analitika bilan.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81144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6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1144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4152" y="178308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F5B94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0756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71432" y="21305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ko'prigi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9718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beruvchilar reytingdan iste'dod topadi — joylashtirish/obuna daromadi.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66760" y="411480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1C2745"/>
          </a:solidFill>
          <a:ln w="12700">
            <a:solidFill>
              <a:srgbClr val="F5B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41148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bosqich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5029200"/>
            <a:ext cx="5486400" cy="1280160"/>
          </a:xfrm>
          <a:prstGeom prst="roundRect">
            <a:avLst>
              <a:gd name="adj" fmla="val 857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389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tarkibi — vaqt bilan siljish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126480" y="5029200"/>
          <a:ext cx="55778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TRAKSIYA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Erishilganlar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jonli, kontent bilan to'ldirilgan va foydalanuvchilar oqib kelmoqda — erta bosqichdamiz, lekin harakatdamiz.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Jonli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cdctf.uz'da ishlamoqda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Fokusli modul va o'quv yo'llari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35624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64224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So'nggi tahdid, AI, tarmoq, walkthrough kontenti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51976" y="21945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576" y="2468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til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0576" y="32461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uz / ru / en qamrov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20624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Yaqinda yetkazilgan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 ishga tushirish tizimi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&amp; yakka musobaqa rejimlari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RBAC va admin boshqaruvi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51846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5184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+ ommaviy tekshirish portali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724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Learn→Hire ish ko'prigi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5614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56144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integratsiya: loglar, support, e'lonlar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FARQIMIZ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cdCTF, HTB yoki TryHackMe emas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Imkoniyat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55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87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TryHackMe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31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til (uz/ru)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87000" y="2331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2920" y="2935224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3522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uchun bepul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2104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287000" y="29352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2920" y="3538728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53872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kontekstli kontent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2104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87000" y="35387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02920" y="4142232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4223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beruvchi ko'prigi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414223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1100816" y="4315968"/>
            <a:ext cx="201168" cy="201168"/>
          </a:xfrm>
          <a:prstGeom prst="ellipse">
            <a:avLst/>
          </a:prstGeom>
          <a:solidFill>
            <a:srgbClr val="F5B9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01400" y="4315968"/>
            <a:ext cx="100584" cy="201168"/>
          </a:xfrm>
          <a:prstGeom prst="ellipse">
            <a:avLst/>
          </a:prstGeom>
          <a:solidFill>
            <a:srgbClr val="141D33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745736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0182B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7457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 mahalliy CTF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2104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0287000" y="47457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561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02920" y="534924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49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laboratoriyalar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32104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287000" y="5349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BOZORGA CHIQISH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O'sish rejasi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Universitet &amp; maktablar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Klublar, mustaqil o'quv dasturi, o'qituvchi paneli orqali sinflar.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1968" y="21214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6C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2103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Park &amp; davlat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1968" y="27432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hamkorlik, mahalliy iste'dodni rivojlantirish dasturlari.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F5B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B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jamoasi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Kanal, e'lonlar va musobaqalar orqali organik o'sish.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0873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2745"/>
          </a:solidFill>
          <a:ln w="15875">
            <a:solidFill>
              <a:srgbClr val="33E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Homiyli tadbirlar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0196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Brendlangan CTF — kompaniyalar bilan iste'dod + marketing.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quryapti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1371600" cy="1371600"/>
          </a:xfrm>
          <a:prstGeom prst="ellipse">
            <a:avLst/>
          </a:prstGeom>
          <a:solidFill>
            <a:srgbClr val="1C2745"/>
          </a:solidFill>
          <a:ln w="25400">
            <a:solidFill>
              <a:srgbClr val="33E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HX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423160" y="2377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Hikmatbek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23160" y="2880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E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 &amp; muhandis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Platformani boshidan oxirigacha o'zi qurdi — mahsulot, xavfsizlik, kontent va jamoa. Kiberxavfsizlik va mahalliy ta'lim missiyasiga sodiq.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Jamoani kengaytiramiz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 muallif(lar)i — modul &amp; CTF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tadbir menejeri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Homiylik / biznes rivojlantirish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Mualliflik &amp; moderatsiya jamoasi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641908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cdctf.uz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0" y="6419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4" name="Shape 2"/>
          <p:cNvSpPr/>
          <p:nvPr/>
        </p:nvSpPr>
        <p:spPr>
          <a:xfrm>
            <a:off x="1129284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0" y="45720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7" name="Shape 5"/>
          <p:cNvSpPr/>
          <p:nvPr/>
        </p:nvSpPr>
        <p:spPr>
          <a:xfrm>
            <a:off x="1092708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8" name="Shape 6"/>
          <p:cNvSpPr/>
          <p:nvPr/>
        </p:nvSpPr>
        <p:spPr>
          <a:xfrm>
            <a:off x="1129284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9" name="Shape 7"/>
          <p:cNvSpPr/>
          <p:nvPr/>
        </p:nvSpPr>
        <p:spPr>
          <a:xfrm>
            <a:off x="11658600" y="82296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0" name="Shape 8"/>
          <p:cNvSpPr/>
          <p:nvPr/>
        </p:nvSpPr>
        <p:spPr>
          <a:xfrm>
            <a:off x="1056132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1" name="Shape 9"/>
          <p:cNvSpPr/>
          <p:nvPr/>
        </p:nvSpPr>
        <p:spPr>
          <a:xfrm>
            <a:off x="1092708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9284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58600" y="118872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6132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708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9284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58600" y="1554480"/>
            <a:ext cx="64008" cy="64008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 &amp; VIZYON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1600200"/>
            <a:ext cx="9326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Markaziy Osiyoning kiberxavfsizlik iste'dodlari zavodini quramiz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Homiylar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Brendlangan CTF va fond hamkorligi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88536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0056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Hamkorlar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62856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Universitet, IT Park, davlat dasturlari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4152" y="3063240"/>
            <a:ext cx="3611880" cy="1554480"/>
          </a:xfrm>
          <a:prstGeom prst="roundRect">
            <a:avLst>
              <a:gd name="adj" fmla="val 7059"/>
            </a:avLst>
          </a:prstGeom>
          <a:solidFill>
            <a:srgbClr val="141D33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48472" y="3355848"/>
            <a:ext cx="310896" cy="310896"/>
          </a:xfrm>
          <a:prstGeom prst="ellipse">
            <a:avLst/>
          </a:prstGeom>
          <a:solidFill>
            <a:srgbClr val="33E6A6"/>
          </a:solidFill>
          <a:ln/>
        </p:spPr>
      </p:sp>
      <p:sp>
        <p:nvSpPr>
          <p:cNvPr id="30" name="Text 28"/>
          <p:cNvSpPr/>
          <p:nvPr/>
        </p:nvSpPr>
        <p:spPr>
          <a:xfrm>
            <a:off x="8805672" y="331927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48472" y="3840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Kontent, community va biznes rivoji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9600"/>
            </a:avLst>
          </a:prstGeom>
          <a:solidFill>
            <a:srgbClr val="1C2745"/>
          </a:solidFill>
          <a:ln w="12700">
            <a:solidFill>
              <a:srgbClr val="2A36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212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Keling, birga quraylik.  </a:t>
            </a:r>
            <a:pPr algn="l" indent="0" marL="0">
              <a:buNone/>
            </a:pPr>
            <a:r>
              <a:rPr lang="en-US" sz="1800" b="1" dirty="0">
                <a:solidFill>
                  <a:srgbClr val="3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cdctf.uz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521208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Aloqa: </a:t>
            </a:r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@cdctf   •   Asoschi: Hikmatbek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2026-08-08T08:31:30Z</dcterms:created>
  <dcterms:modified xsi:type="dcterms:W3CDTF">2026-08-08T08:31:30Z</dcterms:modified>
</cp:coreProperties>
</file>