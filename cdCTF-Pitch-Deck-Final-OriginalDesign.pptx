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  <p:sldId id="268" r:id="rId19"/>
    <p:sldId id="269" r:id="rId20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Grant/Fond (A)</c:v>
                </c:pt>
              </c:strCache>
            </c:strRef>
          </c:tx>
          <c:spPr>
            <a:solidFill>
              <a:srgbClr val="33E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Yil 1</c:v>
                  </c:pt>
                  <c:pt idx="1">
                    <c:v>Yil 2</c:v>
                  </c:pt>
                  <c:pt idx="2">
                    <c:v>Yil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45</c:v>
                </c:pt>
                <c:pt idx="2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Homiyli CTF (B)</c:v>
                </c:pt>
              </c:strCache>
            </c:strRef>
          </c:tx>
          <c:spPr>
            <a:solidFill>
              <a:srgbClr val="6C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Yil 1</c:v>
                  </c:pt>
                  <c:pt idx="1">
                    <c:v>Yil 2</c:v>
                  </c:pt>
                  <c:pt idx="2">
                    <c:v>Yil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40</c:v>
                </c:pt>
                <c:pt idx="2">
                  <c:v>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Talent (C)</c:v>
                </c:pt>
              </c:strCache>
            </c:strRef>
          </c:tx>
          <c:spPr>
            <a:solidFill>
              <a:srgbClr val="F5B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Yil 1</c:v>
                  </c:pt>
                  <c:pt idx="1">
                    <c:v>Yil 2</c:v>
                  </c:pt>
                  <c:pt idx="2">
                    <c:v>Yil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15</c:v>
                </c:pt>
                <c:pt idx="2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6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274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AA6C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C2745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979408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363456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747504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131552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51560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899648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283696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595360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979408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363456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747504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131552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515600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0899648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1283696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595360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979408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363456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747504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131552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515600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99648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1283696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595360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979408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363456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747504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131552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15600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99648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1283696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595360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979408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363456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747504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131552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515600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899648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1283696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457200" y="2148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pPr algn="l" indent="0" marL="0">
              <a:buNone/>
            </a:pPr>
            <a:r>
              <a:rPr lang="en-US" sz="72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</a:t>
            </a:r>
            <a:endParaRPr lang="en-US" sz="7200" dirty="0"/>
          </a:p>
        </p:txBody>
      </p:sp>
      <p:sp>
        <p:nvSpPr>
          <p:cNvPr id="44" name="Text 42"/>
          <p:cNvSpPr/>
          <p:nvPr/>
        </p:nvSpPr>
        <p:spPr>
          <a:xfrm>
            <a:off x="50292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O'zbekistonning kiberxavfsizlik iste'dodlari zavodi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02920" y="3977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 orqali o'rgatadigan, uch tilli va ochiq ta'lim + CTF platformasi — o'quvchidan mutaxassisgacha bo'lgan yagona yo'l.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2920" y="5029200"/>
            <a:ext cx="1505102" cy="457200"/>
          </a:xfrm>
          <a:prstGeom prst="roundRect">
            <a:avLst>
              <a:gd name="adj" fmla="val 50000"/>
            </a:avLst>
          </a:prstGeom>
          <a:solidFill>
            <a:srgbClr val="1C2745"/>
          </a:solidFill>
          <a:ln w="12700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02920" y="5029200"/>
            <a:ext cx="15051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 / Ru / En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190902" y="5029200"/>
            <a:ext cx="1900123" cy="457200"/>
          </a:xfrm>
          <a:prstGeom prst="roundRect">
            <a:avLst>
              <a:gd name="adj" fmla="val 50000"/>
            </a:avLst>
          </a:prstGeom>
          <a:solidFill>
            <a:srgbClr val="1C2745"/>
          </a:solidFill>
          <a:ln w="12700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190902" y="5029200"/>
            <a:ext cx="1900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 uslubi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273906" y="5029200"/>
            <a:ext cx="2591410" cy="457200"/>
          </a:xfrm>
          <a:prstGeom prst="roundRect">
            <a:avLst>
              <a:gd name="adj" fmla="val 50000"/>
            </a:avLst>
          </a:prstGeom>
          <a:solidFill>
            <a:srgbClr val="1C2745"/>
          </a:solidFill>
          <a:ln w="12700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273906" y="5029200"/>
            <a:ext cx="25914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laboratoriyalar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048195" y="5029200"/>
            <a:ext cx="1406347" cy="457200"/>
          </a:xfrm>
          <a:prstGeom prst="roundRect">
            <a:avLst>
              <a:gd name="adj" fmla="val 50000"/>
            </a:avLst>
          </a:prstGeom>
          <a:solidFill>
            <a:srgbClr val="1C2745"/>
          </a:solidFill>
          <a:ln w="12700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048195" y="5029200"/>
            <a:ext cx="14063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Korporativ Ta'lim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292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</a:t>
            </a:r>
            <a:pPr algn="l"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2026   •   cdctf.uz   •   Asoschi: Hikmatbek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MUAMMO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Iste'dod bor — yo'l yo'q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Kiberxavfsizlikka qiziqish yuqori, lekin mahalliy tildagi, amaliyotga asoslangan yagona o'quv yo'li mavjud emas.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651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A1620"/>
          </a:solidFill>
          <a:ln w="12700">
            <a:solidFill>
              <a:srgbClr val="FF7A7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262432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 to'sig'i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Sifatli materiallar asosan ingliz tilida. Ko'pchilik boshlanishidayoq to'xtaydi.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3317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720840" y="2651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A1620"/>
          </a:solidFill>
          <a:ln w="12700">
            <a:solidFill>
              <a:srgbClr val="FF7A7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7208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06640" y="262432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Nazariya ko'p, amaliyot yo'q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20840" y="32461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va PDF o'rgatadi, lekin qo'l bilan ishlash, laboratoriya va real topshiriq bermaydi.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2960" y="46177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A1620"/>
          </a:solidFill>
          <a:ln w="12700">
            <a:solidFill>
              <a:srgbClr val="FF7A7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45902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Yo'nalish yo'q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"Nimadan boshlash kerak?" — tuzilgan yo'l xaritasi va bosqichma-bosqich dastur yo'q.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429768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720840" y="46177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A1620"/>
          </a:solidFill>
          <a:ln w="12700">
            <a:solidFill>
              <a:srgbClr val="FF7A7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2084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06640" y="45902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 bilan ko'prik yo'q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720840" y="52120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O'rgangan ko'nikmani isbotlash va ish beruvchiga ko'rsatishning aniq yo'li yo'q.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YECHIM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 — o'rganib, qilib, isbotlaydigan platforma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057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Bitta platformada: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434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 tilli (uz / ru / en) — mahalliy o'quvchi uchun to'siqsiz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 birinchi — brauzerda ishga tushadigan haqiqiy laboratoriyalar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yo'l xaritasi — bosqichma-bosqich modul va yo'llar (paths)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va musobaqalar — bilimni real bellashuvda sinash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 + ish ko'prigi — ko'nikmani isbotlab, ishga ulanish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783080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8192" y="1956816"/>
            <a:ext cx="402336" cy="402336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108192" y="19568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1874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O'rgan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1854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&amp; yo'llar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95360" y="249631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2697480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08192" y="2871216"/>
            <a:ext cx="402336" cy="402336"/>
          </a:xfrm>
          <a:prstGeom prst="ellipse">
            <a:avLst/>
          </a:prstGeom>
          <a:solidFill>
            <a:srgbClr val="6C8C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08192" y="2871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Amaliyot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30998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Laboratoriya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0" y="341071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0" y="3611880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108192" y="3785616"/>
            <a:ext cx="402336" cy="402336"/>
          </a:xfrm>
          <a:prstGeom prst="ellipse">
            <a:avLst/>
          </a:prstGeom>
          <a:solidFill>
            <a:srgbClr val="F5B94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108192" y="37856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20840" y="3703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Bellash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20840" y="40142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&amp; musobaqa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432511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4526280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108192" y="4700016"/>
            <a:ext cx="402336" cy="402336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108192" y="47000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20840" y="4617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Isbotla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20840" y="49286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95360" y="523951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52160" y="5440680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108192" y="5614416"/>
            <a:ext cx="402336" cy="402336"/>
          </a:xfrm>
          <a:prstGeom prst="ellipse">
            <a:avLst/>
          </a:prstGeom>
          <a:solidFill>
            <a:srgbClr val="6C8CFF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108192" y="5614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20840" y="5532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Ishga ulan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20840" y="58430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ko'prigi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MAHSULOT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Nima qurdik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Ishlab turgan, uch tilli, to'liq platforma — cdctf.uz da jonli.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95528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32688" y="2560320"/>
            <a:ext cx="182880" cy="182880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5528" y="29900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O'rganish markazi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33558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Paths, Modullar, Walkthroughs — TryHackMe uslubidagi tabli hub.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88536" y="21488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81144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6C8CF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718304" y="2560320"/>
            <a:ext cx="182880" cy="182880"/>
          </a:xfrm>
          <a:prstGeom prst="ellipse">
            <a:avLst/>
          </a:prstGeom>
          <a:solidFill>
            <a:srgbClr val="6C8C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81144" y="29900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Haqiqiy laboratoriyalar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81144" y="33558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Izolyatsiyalangan mashinalar, "Ishga tushur" tugmasi bilan brauzerda.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74152" y="21488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366760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F5B94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503920" y="2560320"/>
            <a:ext cx="182880" cy="182880"/>
          </a:xfrm>
          <a:prstGeom prst="ellipse">
            <a:avLst/>
          </a:prstGeom>
          <a:solidFill>
            <a:srgbClr val="F5B94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66760" y="29900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 topshiriqlar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3558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Kategoriyali, ballik, jonli tekshiriladigan flaglar.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95528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32688" y="4572000"/>
            <a:ext cx="182880" cy="182880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95528" y="5001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Musobaqalar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95528" y="536752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yakka rejimlar, jonli reyting, homiyli tadbirlar.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88536" y="416052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581144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6C8CF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718304" y="4572000"/>
            <a:ext cx="182880" cy="182880"/>
          </a:xfrm>
          <a:prstGeom prst="ellipse">
            <a:avLst/>
          </a:prstGeom>
          <a:solidFill>
            <a:srgbClr val="6C8CF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81144" y="5001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Sertifikat &amp; tekshiruv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81144" y="536752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Standartlashtirilgan sertifikat + ommaviy tekshirish portali.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74152" y="416052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366760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F5B94A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503920" y="4572000"/>
            <a:ext cx="182880" cy="182880"/>
          </a:xfrm>
          <a:prstGeom prst="ellipse">
            <a:avLst/>
          </a:prstGeom>
          <a:solidFill>
            <a:srgbClr val="F5B94A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366760" y="5001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Geymifikatsiya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66760" y="536752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daraja, streak, liga va nishonlar — motivatsiya uchun.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 hozir va nega bu yerda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Raqamli hukumat, banklar va IT sektorining o'sishi kiberxavfsizlik mutaxassislariga talabni portlatmoqda — kadr esa yetishmaydi.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3.5M+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Dunyo bo'yicha to'ldirilmagan kiberxavfsizlik vakansiyalari*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88536" y="22860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62856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62856" y="3611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O'zbekistondagi internet foydalanuvchilari — o'quvchilar bazasi*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74152" y="22860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48472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B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Uz/Ru/En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348472" y="3611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platforma — mahalliy + mintaqaviy (Markaziy Osiyo) bozor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663440"/>
            <a:ext cx="11201400" cy="1417320"/>
          </a:xfrm>
          <a:prstGeom prst="roundRect">
            <a:avLst>
              <a:gd name="adj" fmla="val 7742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 (TAM)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51937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Osiyo kiberxavfsizlik ta'limi &amp; CTF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83480" y="4864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Erishiladigan (SAM)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51937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O'zbekistondagi talaba, IT-mutaxassis, korporativ o'quv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8388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86800" y="4864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Boshlang'ich (SOM)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0" y="51937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Universitet klublari, IT Park, Telegram jamoasi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144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Taxminiy, sohaviy hisobotlar asosidagi baholash.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BIZNES MODELI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Pipeline va B2B Ta'lim — daromad uch bosqichda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95528" y="2075688"/>
            <a:ext cx="640080" cy="640080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2075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00200" y="21305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Pipeline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9718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Sifatli ta'limni ta'minlash uchun grant, homiylik va davlat/xalqaro fondlar.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" y="411480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1C2745"/>
          </a:solidFill>
          <a:ln w="12700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95528" y="4114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88536" y="178308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81144" y="2075688"/>
            <a:ext cx="640080" cy="640080"/>
          </a:xfrm>
          <a:prstGeom prst="ellipse">
            <a:avLst/>
          </a:prstGeom>
          <a:solidFill>
            <a:srgbClr val="6C8C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81144" y="2075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85816" y="21305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Korporativ Ta'lim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81144" y="29718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Kompaniyalar xodimlarini o'qitish va tadbirlarga homiylik qiladi — analitika bilan.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81144" y="411480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1C2745"/>
          </a:solidFill>
          <a:ln w="12700">
            <a:solidFill>
              <a:srgbClr val="6C8C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81144" y="4114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Ishga tushdi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74152" y="178308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366760" y="2075688"/>
            <a:ext cx="640080" cy="640080"/>
          </a:xfrm>
          <a:prstGeom prst="ellipse">
            <a:avLst/>
          </a:prstGeom>
          <a:solidFill>
            <a:srgbClr val="F5B94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66760" y="2075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71432" y="21305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ko'prigi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29718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beruvchilar reytingdan iste'dod topadi — joylashtirish/obuna daromadi.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66760" y="411480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1C2745"/>
          </a:solidFill>
          <a:ln w="12700">
            <a:solidFill>
              <a:srgbClr val="F5B94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366760" y="4114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bosqich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5029200"/>
            <a:ext cx="5486400" cy="1280160"/>
          </a:xfrm>
          <a:prstGeom prst="roundRect">
            <a:avLst>
              <a:gd name="adj" fmla="val 8571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1520" y="51389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Daromad tarkibi — vaqt bilan siljish</a:t>
            </a:r>
            <a:endParaRPr lang="en-US" sz="13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6126480" y="5029200"/>
          <a:ext cx="557784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TRAKSIYA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Erishilganlar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jonli, kontent bilan to'ldirilgan va foydalanuvchilar oqib kelmoqda — erta bosqichdamiz, lekin harakatdamiz.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468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Jonli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cdctf.uz'da ishlamoqda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21945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47872" y="2468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47872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Fokusli modul va o'quv yo'llari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35624" y="21945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64224" y="2468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B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64224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So'nggi tahdid, AI, tarmoq, walkthrough kontenti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51976" y="21945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80576" y="2468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til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80576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uz / ru / en qamrov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206240"/>
            <a:ext cx="11201400" cy="1920240"/>
          </a:xfrm>
          <a:prstGeom prst="roundRect">
            <a:avLst>
              <a:gd name="adj" fmla="val 571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Yaqinda yetkazilgan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laboratoriya ishga tushirish tizimi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55080" y="4754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&amp; yakka musobaqa rejimlari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5184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5184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Super-admin RBAC va admin boshqaruvi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55080" y="5184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5184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 + ommaviy tekshirish portali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7240" y="56144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56144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Learn→Hire ish ko'prigi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55080" y="56144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0" y="56144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integratsiya: loglar, support, e'lonlar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FARQIMIZ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 cdCTF, HTB yoki TryHackMe emas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6916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Imkoniyat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5508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2104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8700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TryHackMe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0182B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23317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til (uz/ru)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331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21040" y="2331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87000" y="2331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" y="2935224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293522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Pipeline va B2B Ta'lim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9352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21040" y="29352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287000" y="29352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02920" y="3538728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0182B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353872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kontekstli kontent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53872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21040" y="353872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287000" y="353872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02920" y="4142232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2960" y="414223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beruvchi ko'prigi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41422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21040" y="41422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1100816" y="4315968"/>
            <a:ext cx="201168" cy="201168"/>
          </a:xfrm>
          <a:prstGeom prst="ellipse">
            <a:avLst/>
          </a:prstGeom>
          <a:solidFill>
            <a:srgbClr val="F5B94A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1201400" y="4315968"/>
            <a:ext cx="100584" cy="201168"/>
          </a:xfrm>
          <a:prstGeom prst="ellipse">
            <a:avLst/>
          </a:prstGeom>
          <a:solidFill>
            <a:srgbClr val="141D33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02920" y="4745736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0182B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22960" y="474573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Korporativ Ta'lim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47457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21040" y="47457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287000" y="47457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02920" y="5349240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22960" y="53492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laboratoriyalar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5349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321040" y="5349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0287000" y="5349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BOZORGA CHIQISH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O'sish rejasi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95528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745"/>
          </a:solidFill>
          <a:ln w="15875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Universitet &amp; maktablar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7432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Klublar, mustaqil o'quv dasturi, o'qituvchi paneli orqali sinflar.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601968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745"/>
          </a:solidFill>
          <a:ln w="15875">
            <a:solidFill>
              <a:srgbClr val="6C8C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01968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2103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Park &amp; davlat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01968" y="27432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Rasmiy hamkorlik, mahalliy iste'dodni rivojlantirish dasturlari.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95528" y="40873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745"/>
          </a:solidFill>
          <a:ln w="15875">
            <a:solidFill>
              <a:srgbClr val="F5B9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95528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069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jamoasi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" y="4709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Kanal, e'lonlar va musobaqalar orqali organik o'sish.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601968" y="40873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745"/>
          </a:solidFill>
          <a:ln w="15875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01968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4069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Homiyli tadbirlar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01968" y="4709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Brendlangan CTF — kompaniyalar bilan iste'dod + marketing.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JAMOA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quryapti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286000"/>
            <a:ext cx="1371600" cy="1371600"/>
          </a:xfrm>
          <a:prstGeom prst="ellipse">
            <a:avLst/>
          </a:prstGeom>
          <a:solidFill>
            <a:srgbClr val="1C2745"/>
          </a:solidFill>
          <a:ln w="25400">
            <a:solidFill>
              <a:srgbClr val="33E6A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286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HX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423160" y="2377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Hikmatbek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42316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Asoschi &amp; muhandis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Platformani boshidan oxirigacha o'zi qurdi — mahsulot, xavfsizlik, kontent va jamoa. Kiberxavfsizlik va mahalliy ta'lim missiyasiga sodiq.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8368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Jamoani kengaytiramiz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 muallif(lar)i — modul &amp; CTF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tadbir menejeri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Homiylik / biznes rivojlantirish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Mualliflik &amp; moderatsiya jamoasi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92708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29284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5860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561320" y="82296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27080" y="82296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292840" y="82296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58600" y="82296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561320" y="118872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927080" y="118872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292840" y="118872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658600" y="118872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561320" y="155448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927080" y="155448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292840" y="155448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1658600" y="155448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SO'ROV &amp; VIZYON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1600200"/>
            <a:ext cx="9326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Markaziy Osiyoning kiberxavfsizlik iste'dodlari zavodini quramiz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502920" y="306324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3355848"/>
            <a:ext cx="310896" cy="310896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234440" y="331927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Investitsiya Maqsadi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77240" y="3840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Sarmoya: $10,000 (Jamoa, Marketing, Server)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88536" y="306324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62856" y="3355848"/>
            <a:ext cx="310896" cy="310896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20056" y="331927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Hamkorlar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62856" y="3840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Universitet, IT Park, davlat dasturlari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74152" y="306324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348472" y="3355848"/>
            <a:ext cx="310896" cy="310896"/>
          </a:xfrm>
          <a:prstGeom prst="ellipse">
            <a:avLst/>
          </a:prstGeom>
          <a:solidFill>
            <a:srgbClr val="33E6A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805672" y="331927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Jamoa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348472" y="3840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Kontent, community va biznes rivoji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02920" y="5074920"/>
            <a:ext cx="11201400" cy="1143000"/>
          </a:xfrm>
          <a:prstGeom prst="roundRect">
            <a:avLst>
              <a:gd name="adj" fmla="val 9600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22960" y="52120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Keling, birga quraylik.  </a:t>
            </a:r>
            <a:pPr algn="l" indent="0" marL="0">
              <a:buNone/>
            </a:pPr>
            <a:r>
              <a:rPr lang="en-US" sz="18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cdctf.uz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217920" y="52120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Aloqa: 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@cdctf   •   Asoschi: Hikmatbek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E2832"/>
                </a:solidFill>
              </a:defRPr>
            </a:pPr>
            <a:r>
              <a:t>cdCTF - Asosiy Oyna (Platforma Jonli)</a:t>
            </a:r>
          </a:p>
        </p:txBody>
      </p:sp>
      <p:pic>
        <p:nvPicPr>
          <p:cNvPr id="3" name="Picture 2" descr="screenshot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91440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E2832"/>
                </a:solidFill>
              </a:defRPr>
            </a:pPr>
            <a:r>
              <a:t>cdCTF - O'quv Dasturi</a:t>
            </a:r>
          </a:p>
        </p:txBody>
      </p:sp>
      <p:pic>
        <p:nvPicPr>
          <p:cNvPr id="3" name="Picture 2" descr="screenshot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91440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E2832"/>
                </a:solidFill>
              </a:defRPr>
            </a:pPr>
            <a:r>
              <a:t>cdCTF - Amaliyot va CTF Poligoni</a:t>
            </a:r>
          </a:p>
        </p:txBody>
      </p:sp>
      <p:pic>
        <p:nvPicPr>
          <p:cNvPr id="3" name="Picture 2" descr="screenshot_c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91440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2026-08-08T08:31:30Z</dcterms:created>
  <dcterms:modified xsi:type="dcterms:W3CDTF">2026-08-08T08:31:30Z</dcterms:modified>
</cp:coreProperties>
</file>