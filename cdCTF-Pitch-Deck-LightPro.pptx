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_cover_17863573271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0"/>
            <a:ext cx="6858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0A64DC"/>
                </a:solidFill>
                <a:latin typeface="Arial"/>
              </a:defRPr>
            </a:pPr>
            <a:r>
              <a:t>cdCTF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E2832"/>
                </a:solidFill>
                <a:latin typeface="Arial"/>
              </a:defRPr>
            </a:pPr>
            <a:r>
              <a:t>O'zbekistonning ilg'or kiberxavfsizlik akademiyasi va kadrlar yetkazib berish (Talent Pipeline) tizimi.</a:t>
            </a:r>
            <a:br/>
            <a:br/>
            <a:r>
              <a:t>Investitsiya maqsadi: $10,000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822960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_problem_17863573372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0"/>
            <a:ext cx="6858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0A64DC"/>
                </a:solidFill>
                <a:latin typeface="Arial"/>
              </a:defRPr>
            </a:pPr>
            <a:r>
              <a:t>MUAMMO: KADRLAR TAQCHILLIGI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E2832"/>
                </a:solidFill>
                <a:latin typeface="Arial"/>
              </a:defRPr>
            </a:pPr>
            <a:r>
              <a:t>Bozorda kiberxavfsizlik mutaxassislari keskin yetishmaydi:</a:t>
            </a:r>
            <a:br/>
            <a:br/>
            <a:r>
              <a:t>• O'zbek tilida sifatli, amaliy ta'lim dasturi yo'q.</a:t>
            </a:r>
            <a:br/>
            <a:r>
              <a:t>• Yoshlarni real amaliyotga yo'naltiruvchi tizim mavjud emas.</a:t>
            </a:r>
            <a:br/>
            <a:r>
              <a:t>• HR bo'limlari malakali xavfsizlik muhandislarini topishga qiynalmoqda.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822960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_solution_17863573484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0"/>
            <a:ext cx="6858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0A64DC"/>
                </a:solidFill>
                <a:latin typeface="Arial"/>
              </a:defRPr>
            </a:pPr>
            <a:r>
              <a:t>YECHIM: cdCTF PLATFORMASI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E2832"/>
                </a:solidFill>
                <a:latin typeface="Arial"/>
              </a:defRPr>
            </a:pPr>
            <a:r>
              <a:t>O'rganishdan tortib ishga joylashishgacha bitta platformada:</a:t>
            </a:r>
            <a:br/>
            <a:br/>
            <a:r>
              <a:t>• Akademiya: 8 ta modul, 64 ta interaktiv dars (uz/ru/en).</a:t>
            </a:r>
            <a:br/>
            <a:r>
              <a:t>• CTF Poligon: 97+ izolyatsiya qilingan (Sandboxed) amaliy laboratoriyalar.</a:t>
            </a:r>
            <a:br/>
            <a:r>
              <a:t>• Karyera Tizimi: Bitiruvchilarni B2B orqali to'g'ridan-to'g'ri ish beruvchilarga bog'lash.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822960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0A64DC"/>
                </a:solidFill>
                <a:latin typeface="Arial"/>
              </a:defRPr>
            </a:pPr>
            <a:r>
              <a:t>TEXNOLOGIYA VA XAVFSIZLIK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280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E2832"/>
                </a:solidFill>
                <a:latin typeface="Arial"/>
              </a:defRPr>
            </a:pPr>
            <a:r>
              <a:t>Sanoat standartlariga mos va mustahkam arxitektura:</a:t>
            </a:r>
            <a:br/>
            <a:br/>
            <a:r>
              <a:t>• Zamonaviy Stack: React, Vite, Express 5, PostgreSQL, Drizzle ORM.</a:t>
            </a:r>
            <a:br/>
            <a:r>
              <a:t>• Xavfsiz Poligonlar: Maxsus Docker konteynerlar yordamida izolyatsiya qilingan server-authoritative laboratoriyalar.</a:t>
            </a:r>
            <a:br/>
            <a:r>
              <a:t>• Mukammal Himoya: Xavfsizlik auditi va avtomatik testlardan (22 ta to'plam) muvaffaqiyatli o'tgan.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822960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0A64DC"/>
                </a:solidFill>
                <a:latin typeface="Arial"/>
              </a:defRPr>
            </a:pPr>
            <a:r>
              <a:t>BIZNES MODEL (B2B)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280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E2832"/>
                </a:solidFill>
                <a:latin typeface="Arial"/>
              </a:defRPr>
            </a:pPr>
            <a:r>
              <a:t>Sof va miqyosi kengayuvchi daromad manbalari:</a:t>
            </a:r>
            <a:br/>
            <a:br/>
            <a:r>
              <a:t>1. Talent Pipeline (Kadrlar):</a:t>
            </a:r>
            <a:br/>
            <a:r>
              <a:t>Kompaniyalarga tasdiqlangan mutaxassislarni tavsiya qilish orqali HR-komissiyasi.</a:t>
            </a:r>
            <a:br/>
            <a:br/>
            <a:r>
              <a:t>2. Korporativ Ta'lim:</a:t>
            </a:r>
            <a:br/>
            <a:r>
              <a:t>Kompaniyalarning IT jamoalarini xavfsiz kod yozishga o'rgatuvchi yopiq SaaS modullar.</a:t>
            </a:r>
            <a:br/>
            <a:br/>
            <a:r>
              <a:t>3. Premium Modullar va Sertifikat:</a:t>
            </a:r>
            <a:br/>
            <a:r>
              <a:t>Talabalar uchun murakkablashtirilgan laboratoriyalar va maxsus imtihonlar sotuvi.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822960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0A64DC"/>
                </a:solidFill>
                <a:latin typeface="Arial"/>
              </a:defRPr>
            </a:pPr>
            <a:r>
              <a:t>TRACTION VA YUTUQLAR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280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E2832"/>
                </a:solidFill>
                <a:latin typeface="Arial"/>
              </a:defRPr>
            </a:pPr>
            <a:r>
              <a:t>Loyiha amalda ishlamoqda va tezkor o'smoqda:</a:t>
            </a:r>
            <a:br/>
            <a:br/>
            <a:r>
              <a:t>• MVP Holati: cdctf.uz to'liq faol va yuklamalarga chidamli.</a:t>
            </a:r>
            <a:br/>
            <a:r>
              <a:t>• Kontent: Katta hajmdagi bilimlar bazasi va laboratoriyalar yozib bo'lingan.</a:t>
            </a:r>
            <a:br/>
            <a:r>
              <a:t>• Multilingual: O'zbek, Rus va Ingliz tillarida muammosiz ishlamoqda.</a:t>
            </a:r>
            <a:br/>
            <a:r>
              <a:t>• Dastlabki qadam: Foydalanuvchilar qiziqish bildirib, birinchi topshiriqlarni yechishni boshladi.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822960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0A64DC"/>
                </a:solidFill>
                <a:latin typeface="Arial"/>
              </a:defRPr>
            </a:pPr>
            <a:r>
              <a:t>INVESTITSIYA MAQSADI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280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E2832"/>
                </a:solidFill>
                <a:latin typeface="Arial"/>
              </a:defRPr>
            </a:pPr>
            <a:r>
              <a:t>So'ralayotgan sarmoya: $10,000 (10 oylik Operatsion Xarajat)</a:t>
            </a:r>
            <a:br/>
            <a:br/>
            <a:r>
              <a:t>Loyiha jadal o'sishi uchun sarflanish rejasi:</a:t>
            </a:r>
            <a:br/>
            <a:r>
              <a:t>• Jamoani Kengaytirish (40%): Yangi va yanada murakkab laboratoriyalar yozish uchun kuchli muhandislar.</a:t>
            </a:r>
            <a:br/>
            <a:r>
              <a:t>• Marketing va PR (40%): Platformaga o'quvchilarni keng miqyosda jalb qilish.</a:t>
            </a:r>
            <a:br/>
            <a:r>
              <a:t>• Infratuzilma (20%): Katta yubklamani ko'taruvchi bulutli serverlarni (Cloud) ta'minlash.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822960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32004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500">
                <a:solidFill>
                  <a:srgbClr val="0A64DC"/>
                </a:solidFill>
                <a:latin typeface="Arial"/>
              </a:defRPr>
            </a:pPr>
            <a:r>
              <a:t>Bir jamoa. Bir missiya.</a:t>
            </a:r>
            <a:br/>
            <a:br/>
            <a:r>
              <a:t>Hikmatbek Xudoyberganov</a:t>
            </a:r>
            <a:br/>
            <a:r>
              <a:t>cdctf.uz | @cdctf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